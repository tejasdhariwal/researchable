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understand how computational systems approach human reasoning, we must examine their dual origins. Modern artificial intelligence did not begin with massive neural networks; it started with formal symbolic logic. In 1956, Newell and Simon introduced the Logic Theorist, using symbolic manipulation to prove theorems from Principia Mathematica. However, manually encoding the world's knowledge into symbolic representations proved intractable. Over several decades, the field shifted to statistical learning, utilizing transformers trained on broad internet datasets and specialized repositories like arXiv and MathOverflow. As we explore today, this statistical approach unlocked unprecedented fluency, but preserving logical truth remains an unsolved foundational hurdle.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analyze informal mathematical reasoning, we observe models generating step-by-step answers by predicting the next token autoregressively. Techniques such as chain-of-thought prompting and tool integrations have yielded impressive results on benchmarks like GSM8K and the AMC exams up to the AIME level. Yet, this approach has acute vulnerabilities. Language models possess no internal truth oracle; they calculate probabilities over strings. Consequently, they hallucinate plausible-looking steps that are mathematically invalid. As mathematician Kevin Buzzard pointed out regarding the Putnam competition, models like OpenAI's o1 can often guess the right answer, but they collapse when required to supply rigorous proofs.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overcome hallucinations, computer scientists turn to formal systems. Proof assistants like Lean, Coq, and Isabelle rely on dependent type theory and higher-order logic to guarantee that every inference step adheres strictly to foundational axioms. In Lean, proving is an interactive search: you define a theorem as an initial goal, execute tactics to decompose it into subgoals, and continue until the proof tree is closed. The Lean engine verifies each tactic deterministically. Projects like mathlib bring software engineering principles to pure mathematics, providing thousands of formalized theorems that provide an incorruptible environment for training and validating artificial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greatest historical bottlenecks in formal methods was the immense manual labor required to encode human mathematical arguments into formal languages. Autoformalization solves this challenge. Using large language models, we can now translate informal proofs—written in conversational English and LaTeX—directly into formal Lean specifications. Because paired informal-formal training datasets are scarce, LLMs leverage few-shot prompting and unsupervised alignment to bridge this semantic gap. This allows non-expert users to present natural language problems, which the model formalizes, attempts to prove, and validates automatically through formal verification tools, preventing erroneous claims from reaching the user.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integration of neural models with formal checkers has produced superhuman reasoning capabilities in specialized domains. DeepMind's AlphaGeometry solved Olympiad-level Euclidean geometry problems by pairing a neural network that predicts auxiliary construction points with a symbolic deduction engine. Shortly after, AlphaProof achieved a silver-medal standard at the 2024 International Mathematical Olympiad. AlphaProof converts informal problems into Lean statements via autoformalization, then searches for proofs using reinforcement learning. Crucially, the formal engine generates vast amounts of verified synthetic data, overcoming the data scarcity of elite mathematics and proving that neuro-symbolic hybridization beats pure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implications of automated mathematical reasoning extend far beyond pure mathematics into computer systems engineering. Formal verification has long been used to prove that hardware microarchitectures and safety-critical software operate exactly as specified without bugs. However, writing these formal proofs manually has been prohibitively expensive, limiting its use to aerospace, medical devices, and military applications. By integrating language models that suggest proof tactics and repair failing proof steps, AI slashes the economic cost of formal verification. This enables engineers to formally certify consumer hardware designs and operating systems, creating a future of mathematically certified software and silicon.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Recognizing this strategic inflection point, federal research bodies are committing significant resources. The National Science Foundation launched the AIMing program—Artificial Intelligence, Formal Methods, and Mathematical Reasoning—managed jointly by the Mathematical and Physical Sciences and CISE directorates. The program recognizes that mathematical reasoning is not merely an academic puzzle; it is a core engine of scientific discovery. By funding interdisciplinary consortia between mathematicians and AI researchers, AIMing seeks to develop autonomous systems capable of generating conjectures, formalizing complex theories, and verifying solutions, solidifying formal reasoning as a cornerstone of strategic national technological capability.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conclude, we must take a balanced view of modern machine reasoning. While systems like AlphaProof showcase silver-medal Olympiad reasoning, significant bottlenecks remain. Statistical scaling laws hit a wall in advanced research mathematics where human data is scarce. While synthetic data generation via Lean helps overcome this, translating unstructured natural thought into formal specifications remains fragile. Furthermore, from an engineering perspective, current evidence focuses overwhelmingly on software logic; the physical thermodynamics, semiconductor constraints, and microarchitectural scaling governing these models remain critical omitted variables. Bridging physical hardware efficiency with neuro-symbolic verification defines the true frontier of cognitive computing.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Bridging Informal Machine Learning and Formal Systems: The Mathematics, Mechanics, and Limits of Machine Reasoning</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Foundations of Automated Reasoning: Logic to Deep Learning</a:t>
            </a:r>
          </a:p>
        </p:txBody>
      </p:sp>
      <p:sp>
        <p:nvSpPr>
          <p:cNvPr id="3" name="Content Placeholder 2"/>
          <p:cNvSpPr>
            <a:spLocks noGrp="1"/>
          </p:cNvSpPr>
          <p:nvPr>
            <p:ph idx="1"/>
          </p:nvPr>
        </p:nvSpPr>
        <p:spPr/>
        <p:txBody>
          <a:bodyPr/>
          <a:lstStyle/>
          <a:p>
            <a:pPr>
              <a:defRPr sz="2200"/>
            </a:pPr>
            <a:r>
              <a:t>Early artificial intelligence originated in symbolic formal reasoning, highlighted by Newell and Simon's 1956 Logic Theorist which proved foundational theorems in Russell and Whitehead's Principia Mathematica.</a:t>
            </a:r>
          </a:p>
          <a:p>
            <a:pPr>
              <a:defRPr sz="2200"/>
            </a:pPr>
            <a:r>
              <a:t>Over subsequent decades, the research frontier shifted away from hand-crafted logical rules toward statistical machine learning models trained on vast corpora of textual and mathematical information.</a:t>
            </a:r>
          </a:p>
          <a:p>
            <a:pPr>
              <a:defRPr sz="2200"/>
            </a:pPr>
            <a:r>
              <a:t>Modern mathematical machine learning adapts general language models through continuous pretraining on specialized repositories like arXiv before applying supervised fine-tuning on detailed step-by-step solutions.</a:t>
            </a:r>
          </a:p>
          <a:p>
            <a:pPr>
              <a:defRPr sz="2200"/>
            </a:pPr>
            <a:r>
              <a:t>While statistical models exhibit remarkable linguistic fluency, their lack of explicit axiomatic grounding introduces fundamental challenges when attempting to guarantee the absolute correctness of complex deductions.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Mechanics and Failure Modes of Informal Reasoning</a:t>
            </a:r>
          </a:p>
        </p:txBody>
      </p:sp>
      <p:sp>
        <p:nvSpPr>
          <p:cNvPr id="3" name="Content Placeholder 2"/>
          <p:cNvSpPr>
            <a:spLocks noGrp="1"/>
          </p:cNvSpPr>
          <p:nvPr>
            <p:ph idx="1"/>
          </p:nvPr>
        </p:nvSpPr>
        <p:spPr/>
        <p:txBody>
          <a:bodyPr/>
          <a:lstStyle/>
          <a:p>
            <a:pPr>
              <a:defRPr sz="2200"/>
            </a:pPr>
            <a:r>
              <a:t>Informal mathematical reasoning relies on autoregressive language models predicting subsequent tokens sequentially using soft statistical patterns learned directly from unstructured text datasets.</a:t>
            </a:r>
          </a:p>
          <a:p>
            <a:pPr>
              <a:defRPr sz="2200"/>
            </a:pPr>
            <a:r>
              <a:t>Inference strategies such as chain-of-thought prompting and external Python execution dramatically enhance performance across standardized high school mathematical competitions such as the GSM8K benchmark.</a:t>
            </a:r>
          </a:p>
          <a:p>
            <a:pPr>
              <a:defRPr sz="2200"/>
            </a:pPr>
            <a:r>
              <a:t>Because language models lack sound deductive guarantees, they frequently hallucinate mathematically invalid steps that mimic authentic scholarly prose while leading to completely erroneous conclusions.</a:t>
            </a:r>
          </a:p>
          <a:p>
            <a:pPr>
              <a:defRPr sz="2200"/>
            </a:pPr>
            <a:r>
              <a:t>Elite mathematical evaluations like the Putnam reveal that while language models successfully guess terminal numerical outputs, they regularly fail at constructing rigorous, logically sound verification proofs.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Interactive Proof Assistants: Deterministic Truth Engines</a:t>
            </a:r>
          </a:p>
        </p:txBody>
      </p:sp>
      <p:sp>
        <p:nvSpPr>
          <p:cNvPr id="3" name="Content Placeholder 2"/>
          <p:cNvSpPr>
            <a:spLocks noGrp="1"/>
          </p:cNvSpPr>
          <p:nvPr>
            <p:ph idx="1"/>
          </p:nvPr>
        </p:nvSpPr>
        <p:spPr/>
        <p:txBody>
          <a:bodyPr/>
          <a:lstStyle/>
          <a:p>
            <a:pPr>
              <a:defRPr sz="2200"/>
            </a:pPr>
            <a:r>
              <a:t>Formal systems establish rigorous frameworks for logical deduction, utilizing computational foundations like Peano arithmetic, higher-order logic, and dependent type theory to eliminate ambiguity.</a:t>
            </a:r>
          </a:p>
          <a:p>
            <a:pPr>
              <a:defRPr sz="2200"/>
            </a:pPr>
            <a:r>
              <a:t>Proof assistants such as Lean, Coq, and Isabelle translate mathematical statements into formal computational code, allowing deterministic verification of theorems through symbolic rule checking.</a:t>
            </a:r>
          </a:p>
          <a:p>
            <a:pPr>
              <a:defRPr sz="2200"/>
            </a:pPr>
            <a:r>
              <a:t>The interactive proving workflow operates as a stateful goal tree, where user-supplied tactics transform complex objectives into simpler subgoals until the proof is completely resolved.</a:t>
            </a:r>
          </a:p>
          <a:p>
            <a:pPr>
              <a:defRPr sz="2200"/>
            </a:pPr>
            <a:r>
              <a:t>Massive open-source mathematical repositories like Lean's mathlib organize verified mathematical concepts into modular libraries, creating an infrastructure directly comparable to modern collaborative software engineering.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Autoformalization: Translating Thought to Formal Code</a:t>
            </a:r>
          </a:p>
        </p:txBody>
      </p:sp>
      <p:sp>
        <p:nvSpPr>
          <p:cNvPr id="3" name="Content Placeholder 2"/>
          <p:cNvSpPr>
            <a:spLocks noGrp="1"/>
          </p:cNvSpPr>
          <p:nvPr>
            <p:ph idx="1"/>
          </p:nvPr>
        </p:nvSpPr>
        <p:spPr/>
        <p:txBody>
          <a:bodyPr/>
          <a:lstStyle/>
          <a:p>
            <a:pPr>
              <a:defRPr sz="2200"/>
            </a:pPr>
            <a:r>
              <a:t>Autoformalization represents the critical translation layer that converts informal natural language mathematics and informal LaTeX expressions into machine-checkable formal code structures.</a:t>
            </a:r>
          </a:p>
          <a:p>
            <a:pPr>
              <a:defRPr sz="2200"/>
            </a:pPr>
            <a:r>
              <a:t>Large language models can perform autoformalization effectively through few-shot demonstrations, bypassing the historical scarcity of large-scale aligned corpora of informal and formal proofs.</a:t>
            </a:r>
          </a:p>
          <a:p>
            <a:pPr>
              <a:defRPr sz="2200"/>
            </a:pPr>
            <a:r>
              <a:t>The autoformalization pipeline allows systems to interpret human mathematical queries, formulate symbolic targets, and offload verification to deterministic interactive theorem provers automatically.</a:t>
            </a:r>
          </a:p>
          <a:p>
            <a:pPr>
              <a:defRPr sz="2200"/>
            </a:pPr>
            <a:r>
              <a:t>This bidirectional bridge between human language and formal code enables verified natural language reasoning, ensuring mathematical accuracy without sacrificing user accessibility and intuitive input.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Superhuman Milestones: AlphaProof and AlphaGeometry</a:t>
            </a:r>
          </a:p>
        </p:txBody>
      </p:sp>
      <p:sp>
        <p:nvSpPr>
          <p:cNvPr id="3" name="Content Placeholder 2"/>
          <p:cNvSpPr>
            <a:spLocks noGrp="1"/>
          </p:cNvSpPr>
          <p:nvPr>
            <p:ph idx="1"/>
          </p:nvPr>
        </p:nvSpPr>
        <p:spPr/>
        <p:txBody>
          <a:bodyPr/>
          <a:lstStyle/>
          <a:p>
            <a:pPr>
              <a:defRPr sz="2200"/>
            </a:pPr>
            <a:r>
              <a:t>AlphaGeometry demonstrated elite mathematical problem-solving by combining neural language models for intuitive tactical exploration with a dedicated symbolic geometry engine for deduction.</a:t>
            </a:r>
          </a:p>
          <a:p>
            <a:pPr>
              <a:defRPr sz="2200"/>
            </a:pPr>
            <a:r>
              <a:t>AlphaProof established a landmark milestone by reaching silver-medal performance at the 2024 International Mathematical Olympiad, proving complex formal theorem statements within Lean.</a:t>
            </a:r>
          </a:p>
          <a:p>
            <a:pPr>
              <a:defRPr sz="2200"/>
            </a:pPr>
            <a:r>
              <a:t>The neuro-symbolic framework leverages neural networks to propose candidate proof steps while using the symbolic engine to generate verified synthetic problems for reinforcement learning.</a:t>
            </a:r>
          </a:p>
          <a:p>
            <a:pPr>
              <a:defRPr sz="2200"/>
            </a:pPr>
            <a:r>
              <a:t>These hybrid systems demonstrate that surpassing elite human competition performance requires marrying intuitive neural heuristic search with uncompromising formal symbolic verification environments.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Engineering Impacts: Verifying Hardware and Software</a:t>
            </a:r>
          </a:p>
        </p:txBody>
      </p:sp>
      <p:sp>
        <p:nvSpPr>
          <p:cNvPr id="3" name="Content Placeholder 2"/>
          <p:cNvSpPr>
            <a:spLocks noGrp="1"/>
          </p:cNvSpPr>
          <p:nvPr>
            <p:ph idx="1"/>
          </p:nvPr>
        </p:nvSpPr>
        <p:spPr/>
        <p:txBody>
          <a:bodyPr/>
          <a:lstStyle/>
          <a:p>
            <a:pPr>
              <a:defRPr sz="2200"/>
            </a:pPr>
            <a:r>
              <a:t>Formal mathematical verification methods originated in computer science to rigorously prove the correctness, fault tolerance, and security guarantees of mission-critical software systems.</a:t>
            </a:r>
          </a:p>
          <a:p>
            <a:pPr>
              <a:defRPr sz="2200"/>
            </a:pPr>
            <a:r>
              <a:t>Engineering deployment has historically been restricted to extremely high-stakes environments like aerospace and microchip production due to the immense manual cost of formal proofs.</a:t>
            </a:r>
          </a:p>
          <a:p>
            <a:pPr>
              <a:defRPr sz="2200"/>
            </a:pPr>
            <a:r>
              <a:t>Integrating artificial intelligence into formal proving pipelines drastically reduces human engineering overhead, automating proof repair, tactic prediction, and formal specification development.</a:t>
            </a:r>
          </a:p>
          <a:p>
            <a:pPr>
              <a:defRPr sz="2200"/>
            </a:pPr>
            <a:r>
              <a:t>This computational acceleration promises to make mass-produced commercial software and microarchitectural hardware substantially more robust, mathematically secure, and resilient against system vulnerabilities.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Strategic Directions: The NSF AIMing Program</a:t>
            </a:r>
          </a:p>
        </p:txBody>
      </p:sp>
      <p:sp>
        <p:nvSpPr>
          <p:cNvPr id="3" name="Content Placeholder 2"/>
          <p:cNvSpPr>
            <a:spLocks noGrp="1"/>
          </p:cNvSpPr>
          <p:nvPr>
            <p:ph idx="1"/>
          </p:nvPr>
        </p:nvSpPr>
        <p:spPr/>
        <p:txBody>
          <a:bodyPr/>
          <a:lstStyle/>
          <a:p>
            <a:pPr>
              <a:defRPr sz="2200"/>
            </a:pPr>
            <a:r>
              <a:t>The U.S. National Science Foundation established the AIMing program to fund interdisciplinary research at the intersection of artificial intelligence, formal methods, and mathematics.</a:t>
            </a:r>
          </a:p>
          <a:p>
            <a:pPr>
              <a:defRPr sz="2200"/>
            </a:pPr>
            <a:r>
              <a:t>Federal research programs identify mathematical reasoning as an indispensable benchmark for understanding general intelligence and driving automated scientific discoveries across disciplines.</a:t>
            </a:r>
          </a:p>
          <a:p>
            <a:pPr>
              <a:defRPr sz="2200"/>
            </a:pPr>
            <a:r>
              <a:t>National initiatives explicitly foster institutional collaboration between theoretical mathematicians, logicians, and computer systems engineers to build reliable, next-generation machine reasoning frameworks.</a:t>
            </a:r>
          </a:p>
          <a:p>
            <a:pPr>
              <a:defRPr sz="2200"/>
            </a:pPr>
            <a:r>
              <a:t>Significant public investment signals an international inflection point where hybrid neuro-symbolic systems are recognized as foundational infrastructure for future computational science and technology.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Critical Frontiers and Evidentiary Boundaries</a:t>
            </a:r>
          </a:p>
        </p:txBody>
      </p:sp>
      <p:sp>
        <p:nvSpPr>
          <p:cNvPr id="3" name="Content Placeholder 2"/>
          <p:cNvSpPr>
            <a:spLocks noGrp="1"/>
          </p:cNvSpPr>
          <p:nvPr>
            <p:ph idx="1"/>
          </p:nvPr>
        </p:nvSpPr>
        <p:spPr/>
        <p:txBody>
          <a:bodyPr/>
          <a:lstStyle/>
          <a:p>
            <a:pPr>
              <a:defRPr sz="2200"/>
            </a:pPr>
            <a:r>
              <a:t>Current artificial intelligence reasoning systems remain constrained by data scarcity in frontier research disciplines where massive online pretraining corpora simply do not exist.</a:t>
            </a:r>
          </a:p>
          <a:p>
            <a:pPr>
              <a:defRPr sz="2200"/>
            </a:pPr>
            <a:r>
              <a:t>The neuro-symbolic data flywheel leverages verified formal environments to autonomously synthesize vast training sets, mitigating dependence on human-annotated mathematical examples.</a:t>
            </a:r>
          </a:p>
          <a:p>
            <a:pPr>
              <a:defRPr sz="2200"/>
            </a:pPr>
            <a:r>
              <a:t>While mathematical and algorithmic mechanisms are thoroughly documented, empirical evidence concerning semiconductor physics, transistor thermodynamics, and hardware scaling limits remains unrepresented.</a:t>
            </a:r>
          </a:p>
          <a:p>
            <a:pPr>
              <a:defRPr sz="2200"/>
            </a:pPr>
            <a:r>
              <a:t>Advancing artificial cognition beyond narrow competition benchmarks will require solving autoformalization errors, scaling inference verification, and grounding algorithmic theories within physical computing constraints.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